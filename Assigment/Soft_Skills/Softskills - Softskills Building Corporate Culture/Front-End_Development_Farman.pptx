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792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33453"/>
            <a:ext cx="14630400" cy="8238744"/>
          </a:xfrm>
          <a:prstGeom prst="rect">
            <a:avLst/>
          </a:prstGeom>
        </p:spPr>
      </p:pic>
      <p:sp>
        <p:nvSpPr>
          <p:cNvPr id="4" name="Text 0"/>
          <p:cNvSpPr/>
          <p:nvPr/>
        </p:nvSpPr>
        <p:spPr>
          <a:xfrm>
            <a:off x="832104" y="2057400"/>
            <a:ext cx="12984480" cy="2286000"/>
          </a:xfrm>
          <a:prstGeom prst="rect">
            <a:avLst/>
          </a:prstGeom>
          <a:noFill/>
          <a:ln/>
        </p:spPr>
        <p:txBody>
          <a:bodyPr wrap="square" lIns="0" tIns="0" rIns="0" bIns="0" rtlCol="0" anchor="ctr"/>
          <a:lstStyle/>
          <a:p>
            <a:pPr marL="0" indent="0" algn="l">
              <a:lnSpc>
                <a:spcPts val="8970"/>
              </a:lnSpc>
              <a:buNone/>
            </a:pPr>
            <a:r>
              <a:rPr lang="en-US" sz="6410" dirty="0">
                <a:solidFill>
                  <a:srgbClr val="3A6DDA"/>
                </a:solidFill>
                <a:latin typeface="思源黑体-思源黑体-Regular" pitchFamily="34" charset="0"/>
                <a:ea typeface="思源黑体-思源黑体-Regular" pitchFamily="34" charset="-122"/>
                <a:cs typeface="思源黑体-思源黑体-Regular" pitchFamily="34" charset="-120"/>
              </a:rPr>
              <a:t>Front-End Development Overview</a:t>
            </a:r>
            <a:endParaRPr lang="en-US" sz="6410" dirty="0"/>
          </a:p>
        </p:txBody>
      </p:sp>
      <p:sp>
        <p:nvSpPr>
          <p:cNvPr id="5" name="Text 1"/>
          <p:cNvSpPr/>
          <p:nvPr/>
        </p:nvSpPr>
        <p:spPr>
          <a:xfrm>
            <a:off x="832104" y="4599432"/>
            <a:ext cx="12984480" cy="1325880"/>
          </a:xfrm>
          <a:prstGeom prst="rect">
            <a:avLst/>
          </a:prstGeom>
          <a:noFill/>
          <a:ln/>
        </p:spPr>
        <p:txBody>
          <a:bodyPr wrap="square" lIns="0" tIns="0" rIns="0" bIns="0" rtlCol="0" anchor="ctr"/>
          <a:lstStyle/>
          <a:p>
            <a:pPr marL="0" indent="0" algn="l">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The front-end development is a powerful web development framework that integrates five key technologies: HTML, CSS, JavaScript, Bootstrap and React. Together, these components enable developers to build dynamic and robust web applications. This presentation explores each part of the stack, highlighting their individual roles and how they collaborate to enhance the development process.</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sp>
        <p:nvSpPr>
          <p:cNvPr id="3" name="Text 0"/>
          <p:cNvSpPr/>
          <p:nvPr/>
        </p:nvSpPr>
        <p:spPr>
          <a:xfrm>
            <a:off x="832104" y="911831"/>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3A6DDA"/>
                </a:solidFill>
                <a:latin typeface="思源黑体-思源黑体-Regular" pitchFamily="34" charset="0"/>
                <a:ea typeface="思源黑体-思源黑体-Regular" pitchFamily="34" charset="-122"/>
                <a:cs typeface="思源黑体-思源黑体-Regular" pitchFamily="34" charset="-120"/>
              </a:rPr>
              <a:t>Self Introduction</a:t>
            </a:r>
            <a:endParaRPr lang="en-US" sz="4640" dirty="0"/>
          </a:p>
        </p:txBody>
      </p:sp>
      <p:sp>
        <p:nvSpPr>
          <p:cNvPr id="4" name="Text 1"/>
          <p:cNvSpPr/>
          <p:nvPr/>
        </p:nvSpPr>
        <p:spPr>
          <a:xfrm>
            <a:off x="832104" y="2679192"/>
            <a:ext cx="12984480" cy="3968496"/>
          </a:xfrm>
          <a:prstGeom prst="rect">
            <a:avLst/>
          </a:prstGeom>
          <a:noFill/>
          <a:ln/>
        </p:spPr>
        <p:txBody>
          <a:bodyPr wrap="square" lIns="0" tIns="0" rIns="0" bIns="0" rtlCol="0" anchor="ctr"/>
          <a:lstStyle/>
          <a:p>
            <a:pPr marL="0" indent="0" algn="l">
              <a:lnSpc>
                <a:spcPts val="2600"/>
              </a:lnSpc>
              <a:buNone/>
            </a:pPr>
            <a:endParaRPr lang="en-US" sz="1850" dirty="0"/>
          </a:p>
        </p:txBody>
      </p:sp>
      <p:sp>
        <p:nvSpPr>
          <p:cNvPr id="6" name="TextBox 5">
            <a:extLst>
              <a:ext uri="{FF2B5EF4-FFF2-40B4-BE49-F238E27FC236}">
                <a16:creationId xmlns:a16="http://schemas.microsoft.com/office/drawing/2014/main" id="{00E76C7E-37E3-9AB8-6CEA-6A72B6AC91CE}"/>
              </a:ext>
            </a:extLst>
          </p:cNvPr>
          <p:cNvSpPr txBox="1"/>
          <p:nvPr/>
        </p:nvSpPr>
        <p:spPr>
          <a:xfrm>
            <a:off x="832104" y="1847284"/>
            <a:ext cx="10387173" cy="5355312"/>
          </a:xfrm>
          <a:prstGeom prst="rect">
            <a:avLst/>
          </a:prstGeom>
          <a:noFill/>
        </p:spPr>
        <p:txBody>
          <a:bodyPr wrap="square" rtlCol="0">
            <a:spAutoFit/>
          </a:bodyPr>
          <a:lstStyle/>
          <a:p>
            <a:r>
              <a:rPr lang="en-IN" dirty="0"/>
              <a:t> </a:t>
            </a:r>
            <a:r>
              <a:rPr lang="en-US" dirty="0"/>
              <a:t>Hello, my name is </a:t>
            </a:r>
            <a:r>
              <a:rPr lang="en-US" b="1" dirty="0"/>
              <a:t>Farman Ansari</a:t>
            </a:r>
            <a:r>
              <a:rPr lang="en-US" dirty="0"/>
              <a:t>, and </a:t>
            </a:r>
            <a:r>
              <a:rPr lang="en-US"/>
              <a:t>I’m From </a:t>
            </a:r>
            <a:r>
              <a:rPr lang="en-US" b="1"/>
              <a:t>Nadiad</a:t>
            </a:r>
            <a:r>
              <a:rPr lang="en-US" dirty="0"/>
              <a:t>. </a:t>
            </a:r>
          </a:p>
          <a:p>
            <a:endParaRPr lang="en-US" dirty="0"/>
          </a:p>
          <a:p>
            <a:r>
              <a:rPr lang="en-US" dirty="0"/>
              <a:t>I have completed my </a:t>
            </a:r>
            <a:r>
              <a:rPr lang="en-US" b="1" dirty="0"/>
              <a:t>Bachelor of Computer Applications (BCA)</a:t>
            </a:r>
            <a:r>
              <a:rPr lang="en-US" dirty="0"/>
              <a:t> and I am currently pursuing </a:t>
            </a:r>
            <a:r>
              <a:rPr lang="en-US" b="1" dirty="0"/>
              <a:t>Front-End Development training at TOPS Technologies</a:t>
            </a:r>
            <a:r>
              <a:rPr lang="en-US" dirty="0"/>
              <a:t>.</a:t>
            </a:r>
          </a:p>
          <a:p>
            <a:endParaRPr lang="en-US" dirty="0"/>
          </a:p>
          <a:p>
            <a:r>
              <a:rPr lang="en-US" dirty="0"/>
              <a:t>I am a </a:t>
            </a:r>
            <a:r>
              <a:rPr lang="en-US" b="1" dirty="0"/>
              <a:t>passionate about Front-End Development </a:t>
            </a:r>
            <a:r>
              <a:rPr lang="en-US" dirty="0"/>
              <a:t>with a strong foundation in both </a:t>
            </a:r>
            <a:r>
              <a:rPr lang="en-US" b="1" dirty="0"/>
              <a:t>front-end technologies</a:t>
            </a:r>
            <a:r>
              <a:rPr lang="en-US" dirty="0"/>
              <a:t> including </a:t>
            </a:r>
            <a:r>
              <a:rPr lang="en-US" b="1" dirty="0"/>
              <a:t>JavaScript.js, Bootstrap, CSS, HTML, HTML, CSS, and Bootstrap and React</a:t>
            </a:r>
            <a:r>
              <a:rPr lang="en-US" dirty="0"/>
              <a:t>. I have hands-on experience building </a:t>
            </a:r>
            <a:r>
              <a:rPr lang="en-US" b="1" dirty="0"/>
              <a:t>responsive, user-friendly web applications</a:t>
            </a:r>
            <a:r>
              <a:rPr lang="en-US" dirty="0"/>
              <a:t>, and I’m comfortable working with version control tools like </a:t>
            </a:r>
            <a:r>
              <a:rPr lang="en-US" b="1" dirty="0"/>
              <a:t>Git</a:t>
            </a:r>
            <a:r>
              <a:rPr lang="en-US" dirty="0"/>
              <a:t> and deploying applications through platforms like </a:t>
            </a:r>
            <a:r>
              <a:rPr lang="en-US" b="1" dirty="0"/>
              <a:t>Vercel</a:t>
            </a:r>
            <a:r>
              <a:rPr lang="en-US" dirty="0"/>
              <a:t>.</a:t>
            </a:r>
          </a:p>
          <a:p>
            <a:endParaRPr lang="en-US" dirty="0"/>
          </a:p>
          <a:p>
            <a:r>
              <a:rPr lang="en-IN" dirty="0"/>
              <a:t>📂 </a:t>
            </a:r>
            <a:r>
              <a:rPr lang="en-IN" b="1" dirty="0"/>
              <a:t>Projects:</a:t>
            </a:r>
          </a:p>
          <a:p>
            <a:endParaRPr lang="en-IN" dirty="0"/>
          </a:p>
          <a:p>
            <a:r>
              <a:rPr lang="en-IN" dirty="0"/>
              <a:t> </a:t>
            </a:r>
            <a:r>
              <a:rPr lang="en-IN" b="1" dirty="0"/>
              <a:t>MediNest Clone</a:t>
            </a:r>
            <a:r>
              <a:rPr lang="en-IN" dirty="0"/>
              <a:t>–  </a:t>
            </a:r>
            <a:r>
              <a:rPr lang="en-US" dirty="0"/>
              <a:t>Developed a fully responsive healthcare-related website </a:t>
            </a:r>
            <a:r>
              <a:rPr lang="en-US" b="1" dirty="0"/>
              <a:t>“</a:t>
            </a:r>
            <a:r>
              <a:rPr lang="en-US" dirty="0"/>
              <a:t>Medinest” using HTML, CSS, and 	                 Bootstrap.</a:t>
            </a:r>
          </a:p>
          <a:p>
            <a:endParaRPr lang="en-IN" dirty="0"/>
          </a:p>
          <a:p>
            <a:r>
              <a:rPr lang="en-IN" b="1" dirty="0"/>
              <a:t>Nivia Sport Clone</a:t>
            </a:r>
            <a:r>
              <a:rPr lang="en-IN" dirty="0"/>
              <a:t>–  Simple Design with Skill including like Html And Css.</a:t>
            </a:r>
          </a:p>
          <a:p>
            <a:endParaRPr lang="en-US" dirty="0"/>
          </a:p>
          <a:p>
            <a:r>
              <a:rPr lang="en-IN" dirty="0"/>
              <a:t>🌱</a:t>
            </a:r>
            <a:r>
              <a:rPr lang="en-US" dirty="0"/>
              <a:t>I am constantly working to sharpen my skills and stay updated with the latest web technologies, with a strong focus on writing clean, scalable code and delivering quality solutions.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3044952"/>
          </a:xfrm>
          <a:prstGeom prst="rect">
            <a:avLst/>
          </a:prstGeom>
        </p:spPr>
      </p:pic>
      <p:sp>
        <p:nvSpPr>
          <p:cNvPr id="4" name="Text 0"/>
          <p:cNvSpPr/>
          <p:nvPr/>
        </p:nvSpPr>
        <p:spPr>
          <a:xfrm>
            <a:off x="832104" y="3456432"/>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3A6DDA"/>
                </a:solidFill>
                <a:latin typeface="思源黑体-思源黑体-Regular" pitchFamily="34" charset="0"/>
                <a:ea typeface="思源黑体-思源黑体-Regular" pitchFamily="34" charset="-122"/>
                <a:cs typeface="思源黑体-思源黑体-Regular" pitchFamily="34" charset="-120"/>
              </a:rPr>
              <a:t>Understanding the Front-End Development</a:t>
            </a:r>
            <a:endParaRPr lang="en-US" sz="4640" dirty="0"/>
          </a:p>
        </p:txBody>
      </p:sp>
      <p:sp>
        <p:nvSpPr>
          <p:cNvPr id="5" name="Text 1"/>
          <p:cNvSpPr/>
          <p:nvPr/>
        </p:nvSpPr>
        <p:spPr>
          <a:xfrm>
            <a:off x="1078992" y="4681728"/>
            <a:ext cx="3831336" cy="420624"/>
          </a:xfrm>
          <a:prstGeom prst="rect">
            <a:avLst/>
          </a:prstGeom>
          <a:noFill/>
          <a:ln/>
        </p:spPr>
        <p:txBody>
          <a:bodyPr wrap="none" lIns="0" tIns="0" rIns="0" bIns="0" rtlCol="0" anchor="ctr"/>
          <a:lstStyle/>
          <a:p>
            <a:pPr marL="0" indent="0" algn="l">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Definition</a:t>
            </a:r>
            <a:endParaRPr lang="en-US" sz="2320" dirty="0"/>
          </a:p>
        </p:txBody>
      </p:sp>
      <p:sp>
        <p:nvSpPr>
          <p:cNvPr id="6" name="Text 2"/>
          <p:cNvSpPr/>
          <p:nvPr/>
        </p:nvSpPr>
        <p:spPr>
          <a:xfrm>
            <a:off x="1078992" y="5230368"/>
            <a:ext cx="3831336" cy="667512"/>
          </a:xfrm>
          <a:prstGeom prst="rect">
            <a:avLst/>
          </a:prstGeom>
          <a:noFill/>
          <a:ln/>
        </p:spPr>
        <p:txBody>
          <a:bodyPr wrap="square" lIns="0" tIns="0" rIns="0" bIns="0" rtlCol="0" anchor="ctr"/>
          <a:lstStyle/>
          <a:p>
            <a:pPr marL="0" indent="0" algn="l">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Front-End is a framework for web applications.</a:t>
            </a:r>
            <a:endParaRPr lang="en-US" sz="1850" dirty="0"/>
          </a:p>
        </p:txBody>
      </p:sp>
      <p:sp>
        <p:nvSpPr>
          <p:cNvPr id="7" name="Text 3"/>
          <p:cNvSpPr/>
          <p:nvPr/>
        </p:nvSpPr>
        <p:spPr>
          <a:xfrm>
            <a:off x="5404104" y="4681728"/>
            <a:ext cx="3831336" cy="420624"/>
          </a:xfrm>
          <a:prstGeom prst="rect">
            <a:avLst/>
          </a:prstGeom>
          <a:noFill/>
          <a:ln/>
        </p:spPr>
        <p:txBody>
          <a:bodyPr wrap="none" lIns="0" tIns="0" rIns="0" bIns="0" rtlCol="0" anchor="ctr"/>
          <a:lstStyle/>
          <a:p>
            <a:pPr marL="0" indent="0" algn="l">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Components</a:t>
            </a:r>
            <a:endParaRPr lang="en-US" sz="2320" dirty="0"/>
          </a:p>
        </p:txBody>
      </p:sp>
      <p:sp>
        <p:nvSpPr>
          <p:cNvPr id="8" name="Text 4"/>
          <p:cNvSpPr/>
          <p:nvPr/>
        </p:nvSpPr>
        <p:spPr>
          <a:xfrm>
            <a:off x="5404104" y="5230368"/>
            <a:ext cx="3831336" cy="667512"/>
          </a:xfrm>
          <a:prstGeom prst="rect">
            <a:avLst/>
          </a:prstGeom>
          <a:noFill/>
          <a:ln/>
        </p:spPr>
        <p:txBody>
          <a:bodyPr wrap="square" lIns="0" tIns="0" rIns="0" bIns="0" rtlCol="0" anchor="ctr"/>
          <a:lstStyle/>
          <a:p>
            <a:pPr marL="0" indent="0" algn="l">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Includes HTML, CSS, JavaScript, Bootstrap and React.</a:t>
            </a:r>
            <a:endParaRPr lang="en-US" sz="1850" dirty="0"/>
          </a:p>
        </p:txBody>
      </p:sp>
      <p:sp>
        <p:nvSpPr>
          <p:cNvPr id="9" name="Text 5"/>
          <p:cNvSpPr/>
          <p:nvPr/>
        </p:nvSpPr>
        <p:spPr>
          <a:xfrm>
            <a:off x="9729216" y="4681728"/>
            <a:ext cx="3831336" cy="420624"/>
          </a:xfrm>
          <a:prstGeom prst="rect">
            <a:avLst/>
          </a:prstGeom>
          <a:noFill/>
          <a:ln/>
        </p:spPr>
        <p:txBody>
          <a:bodyPr wrap="none" lIns="0" tIns="0" rIns="0" bIns="0" rtlCol="0" anchor="ctr"/>
          <a:lstStyle/>
          <a:p>
            <a:pPr marL="0" indent="0" algn="l">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Popularity</a:t>
            </a:r>
            <a:endParaRPr lang="en-US" sz="2320" dirty="0"/>
          </a:p>
        </p:txBody>
      </p:sp>
      <p:sp>
        <p:nvSpPr>
          <p:cNvPr id="10" name="Text 6"/>
          <p:cNvSpPr/>
          <p:nvPr/>
        </p:nvSpPr>
        <p:spPr>
          <a:xfrm>
            <a:off x="9729216" y="5230368"/>
            <a:ext cx="3831336" cy="667512"/>
          </a:xfrm>
          <a:prstGeom prst="rect">
            <a:avLst/>
          </a:prstGeom>
          <a:noFill/>
          <a:ln/>
        </p:spPr>
        <p:txBody>
          <a:bodyPr wrap="square" lIns="0" tIns="0" rIns="0" bIns="0" rtlCol="0" anchor="ctr"/>
          <a:lstStyle/>
          <a:p>
            <a:pPr marL="0" indent="0" algn="l">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Widely adopted for its flexibility and speed.</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714232"/>
          </a:xfrm>
          <a:prstGeom prst="rect">
            <a:avLst/>
          </a:prstGeom>
        </p:spPr>
      </p:pic>
      <p:pic>
        <p:nvPicPr>
          <p:cNvPr id="3" name="Image 1" descr="preencoded.png"/>
          <p:cNvPicPr>
            <a:picLocks noChangeAspect="1"/>
          </p:cNvPicPr>
          <p:nvPr/>
        </p:nvPicPr>
        <p:blipFill>
          <a:blip r:embed="rId4"/>
          <a:stretch>
            <a:fillRect/>
          </a:stretch>
        </p:blipFill>
        <p:spPr>
          <a:xfrm>
            <a:off x="2779776" y="1874520"/>
            <a:ext cx="2423160" cy="1600200"/>
          </a:xfrm>
          <a:prstGeom prst="rect">
            <a:avLst/>
          </a:prstGeom>
        </p:spPr>
      </p:pic>
      <p:pic>
        <p:nvPicPr>
          <p:cNvPr id="4" name="Image 2" descr="preencoded.png"/>
          <p:cNvPicPr>
            <a:picLocks noChangeAspect="1"/>
          </p:cNvPicPr>
          <p:nvPr/>
        </p:nvPicPr>
        <p:blipFill>
          <a:blip r:embed="rId5"/>
          <a:stretch>
            <a:fillRect/>
          </a:stretch>
        </p:blipFill>
        <p:spPr>
          <a:xfrm>
            <a:off x="2779776" y="5212080"/>
            <a:ext cx="2423160" cy="1600200"/>
          </a:xfrm>
          <a:prstGeom prst="rect">
            <a:avLst/>
          </a:prstGeom>
        </p:spPr>
      </p:pic>
      <p:pic>
        <p:nvPicPr>
          <p:cNvPr id="5" name="Image 3" descr="preencoded.png"/>
          <p:cNvPicPr>
            <a:picLocks noChangeAspect="1"/>
          </p:cNvPicPr>
          <p:nvPr/>
        </p:nvPicPr>
        <p:blipFill>
          <a:blip r:embed="rId6"/>
          <a:stretch>
            <a:fillRect/>
          </a:stretch>
        </p:blipFill>
        <p:spPr>
          <a:xfrm>
            <a:off x="9445752" y="1874520"/>
            <a:ext cx="2423160" cy="1600200"/>
          </a:xfrm>
          <a:prstGeom prst="rect">
            <a:avLst/>
          </a:prstGeom>
        </p:spPr>
      </p:pic>
      <p:pic>
        <p:nvPicPr>
          <p:cNvPr id="6" name="Image 4" descr="preencoded.png"/>
          <p:cNvPicPr>
            <a:picLocks noChangeAspect="1"/>
          </p:cNvPicPr>
          <p:nvPr/>
        </p:nvPicPr>
        <p:blipFill>
          <a:blip r:embed="rId7"/>
          <a:stretch>
            <a:fillRect/>
          </a:stretch>
        </p:blipFill>
        <p:spPr>
          <a:xfrm>
            <a:off x="9445752" y="5212080"/>
            <a:ext cx="2423160" cy="1600200"/>
          </a:xfrm>
          <a:prstGeom prst="rect">
            <a:avLst/>
          </a:prstGeom>
        </p:spPr>
      </p:pic>
      <p:sp>
        <p:nvSpPr>
          <p:cNvPr id="7" name="Text 0"/>
          <p:cNvSpPr/>
          <p:nvPr/>
        </p:nvSpPr>
        <p:spPr>
          <a:xfrm>
            <a:off x="832104" y="649224"/>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3A6DDA"/>
                </a:solidFill>
                <a:latin typeface="思源黑体-思源黑体-Regular" pitchFamily="34" charset="0"/>
                <a:ea typeface="思源黑体-思源黑体-Regular" pitchFamily="34" charset="-122"/>
                <a:cs typeface="思源黑体-思源黑体-Regular" pitchFamily="34" charset="-120"/>
              </a:rPr>
              <a:t>Front-End Development Components</a:t>
            </a:r>
            <a:endParaRPr lang="en-US" sz="4640" dirty="0"/>
          </a:p>
        </p:txBody>
      </p:sp>
      <p:sp>
        <p:nvSpPr>
          <p:cNvPr id="8" name="Text 1"/>
          <p:cNvSpPr/>
          <p:nvPr/>
        </p:nvSpPr>
        <p:spPr>
          <a:xfrm>
            <a:off x="960120" y="3712464"/>
            <a:ext cx="6053328" cy="420624"/>
          </a:xfrm>
          <a:prstGeom prst="rect">
            <a:avLst/>
          </a:prstGeom>
          <a:noFill/>
          <a:ln/>
        </p:spPr>
        <p:txBody>
          <a:bodyPr wrap="non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HTML</a:t>
            </a:r>
            <a:endParaRPr lang="en-US" sz="2320" dirty="0"/>
          </a:p>
        </p:txBody>
      </p:sp>
      <p:sp>
        <p:nvSpPr>
          <p:cNvPr id="9" name="Text 2"/>
          <p:cNvSpPr/>
          <p:nvPr/>
        </p:nvSpPr>
        <p:spPr>
          <a:xfrm>
            <a:off x="960120" y="4261104"/>
            <a:ext cx="6053328" cy="338328"/>
          </a:xfrm>
          <a:prstGeom prst="rect">
            <a:avLst/>
          </a:prstGeom>
          <a:noFill/>
          <a:ln/>
        </p:spPr>
        <p:txBody>
          <a:bodyPr wrap="none" lIns="0" tIns="0" rIns="0" bIns="0" rtlCol="0" anchor="ctr"/>
          <a:lstStyle/>
          <a:p>
            <a:pPr marL="0" indent="0" algn="ctr">
              <a:lnSpc>
                <a:spcPts val="2600"/>
              </a:lnSpc>
              <a:buNone/>
            </a:pPr>
            <a:r>
              <a:rPr lang="en-US" sz="1850" dirty="0"/>
              <a:t>Html is Hyper Text Markup Language</a:t>
            </a:r>
          </a:p>
        </p:txBody>
      </p:sp>
      <p:sp>
        <p:nvSpPr>
          <p:cNvPr id="10" name="Text 3"/>
          <p:cNvSpPr/>
          <p:nvPr/>
        </p:nvSpPr>
        <p:spPr>
          <a:xfrm>
            <a:off x="960120" y="7050024"/>
            <a:ext cx="6053328" cy="420624"/>
          </a:xfrm>
          <a:prstGeom prst="rect">
            <a:avLst/>
          </a:prstGeom>
          <a:noFill/>
          <a:ln/>
        </p:spPr>
        <p:txBody>
          <a:bodyPr wrap="non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JavaScript</a:t>
            </a:r>
            <a:endParaRPr lang="en-US" sz="2320" dirty="0"/>
          </a:p>
        </p:txBody>
      </p:sp>
      <p:sp>
        <p:nvSpPr>
          <p:cNvPr id="11" name="Text 4"/>
          <p:cNvSpPr/>
          <p:nvPr/>
        </p:nvSpPr>
        <p:spPr>
          <a:xfrm>
            <a:off x="960120" y="7598664"/>
            <a:ext cx="6053328" cy="338328"/>
          </a:xfrm>
          <a:prstGeom prst="rect">
            <a:avLst/>
          </a:prstGeom>
          <a:noFill/>
          <a:ln/>
        </p:spPr>
        <p:txBody>
          <a:bodyPr wrap="none" lIns="0" tIns="0" rIns="0" bIns="0" rtlCol="0" anchor="ctr"/>
          <a:lstStyle/>
          <a:p>
            <a:pPr marL="0" indent="0" algn="ct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JavaScript library for building UIs</a:t>
            </a:r>
            <a:endParaRPr lang="en-US" sz="1850" dirty="0"/>
          </a:p>
        </p:txBody>
      </p:sp>
      <p:sp>
        <p:nvSpPr>
          <p:cNvPr id="12" name="Text 5"/>
          <p:cNvSpPr/>
          <p:nvPr/>
        </p:nvSpPr>
        <p:spPr>
          <a:xfrm>
            <a:off x="7626096" y="3712464"/>
            <a:ext cx="6053328" cy="420624"/>
          </a:xfrm>
          <a:prstGeom prst="rect">
            <a:avLst/>
          </a:prstGeom>
          <a:noFill/>
          <a:ln/>
        </p:spPr>
        <p:txBody>
          <a:bodyPr wrap="non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CSS</a:t>
            </a:r>
            <a:endParaRPr lang="en-US" sz="2320" dirty="0"/>
          </a:p>
        </p:txBody>
      </p:sp>
      <p:sp>
        <p:nvSpPr>
          <p:cNvPr id="13" name="Text 6"/>
          <p:cNvSpPr/>
          <p:nvPr/>
        </p:nvSpPr>
        <p:spPr>
          <a:xfrm>
            <a:off x="7626096" y="4261104"/>
            <a:ext cx="6053328" cy="338328"/>
          </a:xfrm>
          <a:prstGeom prst="rect">
            <a:avLst/>
          </a:prstGeom>
          <a:noFill/>
          <a:ln/>
        </p:spPr>
        <p:txBody>
          <a:bodyPr wrap="none" lIns="0" tIns="0" rIns="0" bIns="0" rtlCol="0" anchor="ctr"/>
          <a:lstStyle/>
          <a:p>
            <a:pPr marL="0" indent="0" algn="ct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Web application framework for Bootstrap</a:t>
            </a:r>
            <a:endParaRPr lang="en-US" sz="1850" dirty="0"/>
          </a:p>
        </p:txBody>
      </p:sp>
      <p:sp>
        <p:nvSpPr>
          <p:cNvPr id="14" name="Text 7"/>
          <p:cNvSpPr/>
          <p:nvPr/>
        </p:nvSpPr>
        <p:spPr>
          <a:xfrm>
            <a:off x="7626096" y="7050024"/>
            <a:ext cx="6053328" cy="420624"/>
          </a:xfrm>
          <a:prstGeom prst="rect">
            <a:avLst/>
          </a:prstGeom>
          <a:noFill/>
          <a:ln/>
        </p:spPr>
        <p:txBody>
          <a:bodyPr wrap="non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Bootstrap</a:t>
            </a:r>
            <a:endParaRPr lang="en-US" sz="2320" dirty="0"/>
          </a:p>
        </p:txBody>
      </p:sp>
      <p:sp>
        <p:nvSpPr>
          <p:cNvPr id="15" name="Text 8"/>
          <p:cNvSpPr/>
          <p:nvPr/>
        </p:nvSpPr>
        <p:spPr>
          <a:xfrm>
            <a:off x="7626096" y="7598664"/>
            <a:ext cx="6053328" cy="338328"/>
          </a:xfrm>
          <a:prstGeom prst="rect">
            <a:avLst/>
          </a:prstGeom>
          <a:noFill/>
          <a:ln/>
        </p:spPr>
        <p:txBody>
          <a:bodyPr wrap="none" lIns="0" tIns="0" rIns="0" bIns="0" rtlCol="0" anchor="ctr"/>
          <a:lstStyle/>
          <a:p>
            <a:pPr marL="0" indent="0" algn="ct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JavaScript runtime for server-side coding</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5047488" y="2395728"/>
            <a:ext cx="4544568" cy="4544568"/>
          </a:xfrm>
          <a:prstGeom prst="rect">
            <a:avLst/>
          </a:prstGeom>
        </p:spPr>
      </p:pic>
      <p:pic>
        <p:nvPicPr>
          <p:cNvPr id="4" name="Image 2" descr="preencoded.png"/>
          <p:cNvPicPr>
            <a:picLocks noChangeAspect="1"/>
          </p:cNvPicPr>
          <p:nvPr/>
        </p:nvPicPr>
        <p:blipFill>
          <a:blip r:embed="rId5"/>
          <a:stretch>
            <a:fillRect/>
          </a:stretch>
        </p:blipFill>
        <p:spPr>
          <a:xfrm>
            <a:off x="5047488" y="2395728"/>
            <a:ext cx="4544568" cy="4544568"/>
          </a:xfrm>
          <a:prstGeom prst="rect">
            <a:avLst/>
          </a:prstGeom>
        </p:spPr>
      </p:pic>
      <p:pic>
        <p:nvPicPr>
          <p:cNvPr id="5" name="Image 3" descr="preencoded.png"/>
          <p:cNvPicPr>
            <a:picLocks noChangeAspect="1"/>
          </p:cNvPicPr>
          <p:nvPr/>
        </p:nvPicPr>
        <p:blipFill>
          <a:blip r:embed="rId6"/>
          <a:stretch>
            <a:fillRect/>
          </a:stretch>
        </p:blipFill>
        <p:spPr>
          <a:xfrm>
            <a:off x="5047488" y="2395728"/>
            <a:ext cx="4544568" cy="4544568"/>
          </a:xfrm>
          <a:prstGeom prst="rect">
            <a:avLst/>
          </a:prstGeom>
        </p:spPr>
      </p:pic>
      <p:sp>
        <p:nvSpPr>
          <p:cNvPr id="6" name="Text 0"/>
          <p:cNvSpPr/>
          <p:nvPr/>
        </p:nvSpPr>
        <p:spPr>
          <a:xfrm>
            <a:off x="832104" y="1197864"/>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3A6DDA"/>
                </a:solidFill>
                <a:latin typeface="思源黑体-思源黑体-Regular" pitchFamily="34" charset="0"/>
                <a:ea typeface="思源黑体-思源黑体-Regular" pitchFamily="34" charset="-122"/>
                <a:cs typeface="思源黑体-思源黑体-Regular" pitchFamily="34" charset="-120"/>
              </a:rPr>
              <a:t>HTML Overview</a:t>
            </a:r>
            <a:endParaRPr lang="en-US" sz="4640" dirty="0"/>
          </a:p>
        </p:txBody>
      </p:sp>
      <p:sp>
        <p:nvSpPr>
          <p:cNvPr id="7" name="Text 1"/>
          <p:cNvSpPr/>
          <p:nvPr/>
        </p:nvSpPr>
        <p:spPr>
          <a:xfrm>
            <a:off x="950976" y="3621024"/>
            <a:ext cx="3511296" cy="832104"/>
          </a:xfrm>
          <a:prstGeom prst="rect">
            <a:avLst/>
          </a:prstGeom>
          <a:noFill/>
          <a:ln/>
        </p:spPr>
        <p:txBody>
          <a:bodyPr wrap="square" lIns="0" tIns="0" rIns="0" bIns="0" rtlCol="0" anchor="ctr"/>
          <a:lstStyle/>
          <a:p>
            <a:pPr marL="0" indent="0" algn="r">
              <a:lnSpc>
                <a:spcPts val="3250"/>
              </a:lnSpc>
              <a:buNone/>
            </a:pPr>
            <a:endParaRPr lang="en-US" sz="2320" dirty="0"/>
          </a:p>
        </p:txBody>
      </p:sp>
      <p:sp>
        <p:nvSpPr>
          <p:cNvPr id="8" name="Text 2"/>
          <p:cNvSpPr/>
          <p:nvPr/>
        </p:nvSpPr>
        <p:spPr>
          <a:xfrm>
            <a:off x="1069848" y="4160743"/>
            <a:ext cx="3511296" cy="996696"/>
          </a:xfrm>
          <a:prstGeom prst="rect">
            <a:avLst/>
          </a:prstGeom>
          <a:noFill/>
          <a:ln/>
        </p:spPr>
        <p:txBody>
          <a:bodyPr wrap="square" lIns="0" tIns="0" rIns="0" bIns="0" rtlCol="0" anchor="ctr"/>
          <a:lstStyle/>
          <a:p>
            <a:pPr algn="r">
              <a:lnSpc>
                <a:spcPts val="2600"/>
              </a:lnSpc>
            </a:pPr>
            <a:r>
              <a:rPr lang="en-US" sz="2000" dirty="0"/>
              <a:t>HTML gives </a:t>
            </a:r>
            <a:r>
              <a:rPr lang="en-US" sz="2000" b="1" dirty="0"/>
              <a:t>structure and meaning</a:t>
            </a:r>
            <a:r>
              <a:rPr lang="en-US" sz="2000" dirty="0"/>
              <a:t> to a web page by defining elements like headings, paragraphs, images, and links.</a:t>
            </a:r>
            <a:endParaRPr lang="en-US" sz="1850" dirty="0"/>
          </a:p>
        </p:txBody>
      </p:sp>
      <p:sp>
        <p:nvSpPr>
          <p:cNvPr id="9" name="Text 3"/>
          <p:cNvSpPr/>
          <p:nvPr/>
        </p:nvSpPr>
        <p:spPr>
          <a:xfrm>
            <a:off x="6062472" y="4453128"/>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595959"/>
                </a:solidFill>
                <a:latin typeface="思源黑体-思源黑体-Regular" pitchFamily="34" charset="0"/>
                <a:ea typeface="思源黑体-思源黑体-Regular" pitchFamily="34" charset="-122"/>
                <a:cs typeface="思源黑体-思源黑体-Regular" pitchFamily="34" charset="-120"/>
              </a:rPr>
              <a:t>1</a:t>
            </a:r>
            <a:endParaRPr lang="en-US" sz="2320" dirty="0"/>
          </a:p>
        </p:txBody>
      </p:sp>
      <p:sp>
        <p:nvSpPr>
          <p:cNvPr id="10" name="Text 4"/>
          <p:cNvSpPr/>
          <p:nvPr/>
        </p:nvSpPr>
        <p:spPr>
          <a:xfrm>
            <a:off x="7818120" y="3438144"/>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595959"/>
                </a:solidFill>
                <a:latin typeface="思源黑体-思源黑体-Regular" pitchFamily="34" charset="0"/>
                <a:ea typeface="思源黑体-思源黑体-Regular" pitchFamily="34" charset="-122"/>
                <a:cs typeface="思源黑体-思源黑体-Regular" pitchFamily="34" charset="-120"/>
              </a:rPr>
              <a:t>2</a:t>
            </a:r>
            <a:endParaRPr lang="en-US" sz="2320" dirty="0"/>
          </a:p>
        </p:txBody>
      </p:sp>
      <p:sp>
        <p:nvSpPr>
          <p:cNvPr id="11" name="Text 5"/>
          <p:cNvSpPr/>
          <p:nvPr/>
        </p:nvSpPr>
        <p:spPr>
          <a:xfrm>
            <a:off x="7818120" y="5458968"/>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595959"/>
                </a:solidFill>
                <a:latin typeface="思源黑体-思源黑体-Regular" pitchFamily="34" charset="0"/>
                <a:ea typeface="思源黑体-思源黑体-Regular" pitchFamily="34" charset="-122"/>
                <a:cs typeface="思源黑体-思源黑体-Regular" pitchFamily="34" charset="-120"/>
              </a:rPr>
              <a:t>3</a:t>
            </a:r>
            <a:endParaRPr lang="en-US" sz="2320" dirty="0"/>
          </a:p>
        </p:txBody>
      </p:sp>
      <p:sp>
        <p:nvSpPr>
          <p:cNvPr id="12" name="Text 6"/>
          <p:cNvSpPr/>
          <p:nvPr/>
        </p:nvSpPr>
        <p:spPr>
          <a:xfrm>
            <a:off x="9710928" y="2551176"/>
            <a:ext cx="3986784" cy="420624"/>
          </a:xfrm>
          <a:prstGeom prst="rect">
            <a:avLst/>
          </a:prstGeom>
          <a:noFill/>
          <a:ln/>
        </p:spPr>
        <p:txBody>
          <a:bodyPr wrap="none" lIns="0" tIns="0" rIns="0" bIns="0" rtlCol="0" anchor="ctr"/>
          <a:lstStyle/>
          <a:p>
            <a:pPr marL="0" indent="0" algn="l">
              <a:lnSpc>
                <a:spcPts val="3250"/>
              </a:lnSpc>
              <a:buNone/>
            </a:pPr>
            <a:endParaRPr lang="en-US" sz="2320" dirty="0"/>
          </a:p>
        </p:txBody>
      </p:sp>
      <p:sp>
        <p:nvSpPr>
          <p:cNvPr id="13" name="Text 7"/>
          <p:cNvSpPr/>
          <p:nvPr/>
        </p:nvSpPr>
        <p:spPr>
          <a:xfrm>
            <a:off x="9509760" y="2738628"/>
            <a:ext cx="3986784" cy="996696"/>
          </a:xfrm>
          <a:prstGeom prst="rect">
            <a:avLst/>
          </a:prstGeom>
          <a:noFill/>
          <a:ln/>
        </p:spPr>
        <p:txBody>
          <a:bodyPr wrap="square" lIns="0" tIns="0" rIns="0" bIns="0" rtlCol="0" anchor="ctr"/>
          <a:lstStyle/>
          <a:p>
            <a:pPr>
              <a:lnSpc>
                <a:spcPts val="2600"/>
              </a:lnSpc>
            </a:pPr>
            <a:r>
              <a:rPr lang="en-US" sz="2000" dirty="0"/>
              <a:t>Builds the </a:t>
            </a:r>
            <a:r>
              <a:rPr lang="en-US" sz="2000" b="1" dirty="0"/>
              <a:t>foundation</a:t>
            </a:r>
            <a:r>
              <a:rPr lang="en-US" sz="2000" dirty="0"/>
              <a:t> of any website</a:t>
            </a:r>
          </a:p>
          <a:p>
            <a:pPr>
              <a:lnSpc>
                <a:spcPts val="2600"/>
              </a:lnSpc>
            </a:pPr>
            <a:r>
              <a:rPr lang="en-US" sz="2000" dirty="0"/>
              <a:t>Uses </a:t>
            </a:r>
            <a:r>
              <a:rPr lang="en-US" sz="2000" b="1" dirty="0"/>
              <a:t>tags</a:t>
            </a:r>
            <a:r>
              <a:rPr lang="en-US" sz="2000" dirty="0"/>
              <a:t> to organize content</a:t>
            </a:r>
            <a:endParaRPr lang="en-US" sz="1850" dirty="0"/>
          </a:p>
        </p:txBody>
      </p:sp>
      <p:sp>
        <p:nvSpPr>
          <p:cNvPr id="14" name="Text 8"/>
          <p:cNvSpPr/>
          <p:nvPr/>
        </p:nvSpPr>
        <p:spPr>
          <a:xfrm>
            <a:off x="9710928" y="5111496"/>
            <a:ext cx="3986784" cy="420624"/>
          </a:xfrm>
          <a:prstGeom prst="rect">
            <a:avLst/>
          </a:prstGeom>
          <a:noFill/>
          <a:ln/>
        </p:spPr>
        <p:txBody>
          <a:bodyPr wrap="none" lIns="0" tIns="0" rIns="0" bIns="0" rtlCol="0" anchor="ctr"/>
          <a:lstStyle/>
          <a:p>
            <a:pPr marL="0" indent="0" algn="l">
              <a:lnSpc>
                <a:spcPts val="3250"/>
              </a:lnSpc>
              <a:buNone/>
            </a:pPr>
            <a:endParaRPr lang="en-US" sz="2320" dirty="0"/>
          </a:p>
        </p:txBody>
      </p:sp>
      <p:sp>
        <p:nvSpPr>
          <p:cNvPr id="15" name="Text 9"/>
          <p:cNvSpPr/>
          <p:nvPr/>
        </p:nvSpPr>
        <p:spPr>
          <a:xfrm>
            <a:off x="9710928" y="5321808"/>
            <a:ext cx="3986784" cy="996696"/>
          </a:xfrm>
          <a:prstGeom prst="rect">
            <a:avLst/>
          </a:prstGeom>
          <a:noFill/>
          <a:ln/>
        </p:spPr>
        <p:txBody>
          <a:bodyPr wrap="square" lIns="0" tIns="0" rIns="0" bIns="0" rtlCol="0" anchor="ctr"/>
          <a:lstStyle/>
          <a:p>
            <a:pPr>
              <a:lnSpc>
                <a:spcPts val="2600"/>
              </a:lnSpc>
            </a:pPr>
            <a:r>
              <a:rPr lang="en-US" sz="2000" dirty="0"/>
              <a:t>Supports </a:t>
            </a:r>
            <a:r>
              <a:rPr lang="en-US" sz="2000" b="1" dirty="0"/>
              <a:t>semantic elements</a:t>
            </a:r>
            <a:r>
              <a:rPr lang="en-US" sz="2000" dirty="0"/>
              <a:t> for SEO and accessibility</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41148"/>
            <a:ext cx="14630400" cy="8238744"/>
          </a:xfrm>
          <a:prstGeom prst="rect">
            <a:avLst/>
          </a:prstGeom>
        </p:spPr>
      </p:pic>
      <p:sp>
        <p:nvSpPr>
          <p:cNvPr id="7" name="Text 0"/>
          <p:cNvSpPr/>
          <p:nvPr/>
        </p:nvSpPr>
        <p:spPr>
          <a:xfrm>
            <a:off x="832104" y="1819656"/>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3A6DDA"/>
                </a:solidFill>
                <a:latin typeface="思源黑体-思源黑体-Regular" pitchFamily="34" charset="0"/>
                <a:ea typeface="思源黑体-思源黑体-Regular" pitchFamily="34" charset="-122"/>
                <a:cs typeface="思源黑体-思源黑体-Regular" pitchFamily="34" charset="-120"/>
              </a:rPr>
              <a:t>CSS Overview</a:t>
            </a:r>
            <a:endParaRPr lang="en-US" sz="4640" dirty="0"/>
          </a:p>
        </p:txBody>
      </p:sp>
      <p:sp>
        <p:nvSpPr>
          <p:cNvPr id="8" name="Text 1"/>
          <p:cNvSpPr/>
          <p:nvPr/>
        </p:nvSpPr>
        <p:spPr>
          <a:xfrm>
            <a:off x="996696" y="3182112"/>
            <a:ext cx="173736" cy="43891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11" name="Text 4"/>
          <p:cNvSpPr/>
          <p:nvPr/>
        </p:nvSpPr>
        <p:spPr>
          <a:xfrm>
            <a:off x="5422392" y="3182112"/>
            <a:ext cx="173736" cy="43891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14" name="Text 7"/>
          <p:cNvSpPr/>
          <p:nvPr/>
        </p:nvSpPr>
        <p:spPr>
          <a:xfrm>
            <a:off x="9848088" y="3182112"/>
            <a:ext cx="173736" cy="43891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19" name="TextBox 18">
            <a:extLst>
              <a:ext uri="{FF2B5EF4-FFF2-40B4-BE49-F238E27FC236}">
                <a16:creationId xmlns:a16="http://schemas.microsoft.com/office/drawing/2014/main" id="{A26DE512-9EDA-E2DF-3324-E815828DE369}"/>
              </a:ext>
            </a:extLst>
          </p:cNvPr>
          <p:cNvSpPr txBox="1"/>
          <p:nvPr/>
        </p:nvSpPr>
        <p:spPr>
          <a:xfrm>
            <a:off x="1492256" y="3677338"/>
            <a:ext cx="11664176" cy="1323439"/>
          </a:xfrm>
          <a:prstGeom prst="rect">
            <a:avLst/>
          </a:prstGeom>
          <a:noFill/>
        </p:spPr>
        <p:txBody>
          <a:bodyPr wrap="square" rtlCol="0">
            <a:spAutoFit/>
          </a:bodyPr>
          <a:lstStyle/>
          <a:p>
            <a:pPr algn="ctr"/>
            <a:r>
              <a:rPr lang="en-US" sz="2000" i="1" dirty="0"/>
              <a:t>CSS</a:t>
            </a:r>
            <a:r>
              <a:rPr lang="en-US" sz="2000" dirty="0"/>
              <a:t>, which means </a:t>
            </a:r>
            <a:r>
              <a:rPr lang="en-US" sz="2000" i="1" dirty="0"/>
              <a:t>Cascading Style Sheets</a:t>
            </a:r>
            <a:r>
              <a:rPr lang="en-US" sz="2000" dirty="0"/>
              <a:t>.</a:t>
            </a:r>
            <a:br>
              <a:rPr lang="en-US" sz="2000" dirty="0"/>
            </a:br>
            <a:r>
              <a:rPr lang="en-US" sz="2000" dirty="0"/>
              <a:t>CSS is used to </a:t>
            </a:r>
            <a:r>
              <a:rPr lang="en-US" sz="2000" i="1" dirty="0"/>
              <a:t>style and design</a:t>
            </a:r>
            <a:r>
              <a:rPr lang="en-US" sz="2000" dirty="0"/>
              <a:t> the web pages — like colors, fonts, and layouts.</a:t>
            </a:r>
            <a:br>
              <a:rPr lang="en-US" sz="2000" dirty="0"/>
            </a:br>
            <a:r>
              <a:rPr lang="en-US" sz="2000" dirty="0"/>
              <a:t>It also helps in making the website </a:t>
            </a:r>
            <a:r>
              <a:rPr lang="en-US" sz="2000" i="1" dirty="0"/>
              <a:t>responsive</a:t>
            </a:r>
            <a:r>
              <a:rPr lang="en-US" sz="2000" dirty="0"/>
              <a:t>, so it looks good on all devices.</a:t>
            </a:r>
            <a:br>
              <a:rPr lang="en-US" sz="2000" dirty="0"/>
            </a:br>
            <a:r>
              <a:rPr lang="en-US" sz="2000" dirty="0"/>
              <a:t>Using CSS, we can also create </a:t>
            </a:r>
            <a:r>
              <a:rPr lang="en-US" sz="2000" i="1" dirty="0"/>
              <a:t>animations and transitions</a:t>
            </a:r>
            <a:r>
              <a:rPr lang="en-US" sz="2000" dirty="0"/>
              <a:t> to make the UI more attractive.</a:t>
            </a:r>
            <a:endParaRPr lang="en-IN"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60120" y="2020824"/>
            <a:ext cx="3831336" cy="2532888"/>
          </a:xfrm>
          <a:prstGeom prst="rect">
            <a:avLst/>
          </a:prstGeom>
        </p:spPr>
      </p:pic>
      <p:pic>
        <p:nvPicPr>
          <p:cNvPr id="4" name="Image 2" descr="preencoded.png"/>
          <p:cNvPicPr>
            <a:picLocks noChangeAspect="1"/>
          </p:cNvPicPr>
          <p:nvPr/>
        </p:nvPicPr>
        <p:blipFill>
          <a:blip r:embed="rId5"/>
          <a:stretch>
            <a:fillRect/>
          </a:stretch>
        </p:blipFill>
        <p:spPr>
          <a:xfrm>
            <a:off x="5408676" y="2020824"/>
            <a:ext cx="3831336" cy="2532888"/>
          </a:xfrm>
          <a:prstGeom prst="rect">
            <a:avLst/>
          </a:prstGeom>
        </p:spPr>
      </p:pic>
      <p:pic>
        <p:nvPicPr>
          <p:cNvPr id="5" name="Image 3" descr="preencoded.png"/>
          <p:cNvPicPr>
            <a:picLocks noChangeAspect="1"/>
          </p:cNvPicPr>
          <p:nvPr/>
        </p:nvPicPr>
        <p:blipFill>
          <a:blip r:embed="rId6"/>
          <a:stretch>
            <a:fillRect/>
          </a:stretch>
        </p:blipFill>
        <p:spPr>
          <a:xfrm>
            <a:off x="9848088" y="2020824"/>
            <a:ext cx="3831336" cy="2532888"/>
          </a:xfrm>
          <a:prstGeom prst="rect">
            <a:avLst/>
          </a:prstGeom>
        </p:spPr>
      </p:pic>
      <p:sp>
        <p:nvSpPr>
          <p:cNvPr id="6" name="Text 0"/>
          <p:cNvSpPr/>
          <p:nvPr/>
        </p:nvSpPr>
        <p:spPr>
          <a:xfrm>
            <a:off x="832104" y="795528"/>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3A6DDA"/>
                </a:solidFill>
                <a:latin typeface="思源黑体-思源黑体-Regular" pitchFamily="34" charset="0"/>
                <a:ea typeface="思源黑体-思源黑体-Regular" pitchFamily="34" charset="-122"/>
                <a:cs typeface="思源黑体-思源黑体-Regular" pitchFamily="34" charset="-120"/>
              </a:rPr>
              <a:t>React Overview</a:t>
            </a:r>
            <a:endParaRPr lang="en-US" sz="4640" dirty="0"/>
          </a:p>
        </p:txBody>
      </p:sp>
      <p:sp>
        <p:nvSpPr>
          <p:cNvPr id="7" name="Text 1"/>
          <p:cNvSpPr/>
          <p:nvPr/>
        </p:nvSpPr>
        <p:spPr>
          <a:xfrm>
            <a:off x="960120" y="4782312"/>
            <a:ext cx="3831336" cy="420624"/>
          </a:xfrm>
          <a:prstGeom prst="rect">
            <a:avLst/>
          </a:prstGeom>
          <a:noFill/>
          <a:ln/>
        </p:spPr>
        <p:txBody>
          <a:bodyPr wrap="non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Frontend Library</a:t>
            </a:r>
            <a:endParaRPr lang="en-US" sz="2320" dirty="0"/>
          </a:p>
        </p:txBody>
      </p:sp>
      <p:sp>
        <p:nvSpPr>
          <p:cNvPr id="8" name="Text 2"/>
          <p:cNvSpPr/>
          <p:nvPr/>
        </p:nvSpPr>
        <p:spPr>
          <a:xfrm>
            <a:off x="960120" y="5330952"/>
            <a:ext cx="3831336" cy="1984248"/>
          </a:xfrm>
          <a:prstGeom prst="rect">
            <a:avLst/>
          </a:prstGeom>
          <a:noFill/>
          <a:ln/>
        </p:spPr>
        <p:txBody>
          <a:bodyPr wrap="square" lIns="0" tIns="0" rIns="0" bIns="0" rtlCol="0" anchor="ctr"/>
          <a:lstStyle/>
          <a:p>
            <a:pPr algn="ctr">
              <a:lnSpc>
                <a:spcPts val="2600"/>
              </a:lnSpc>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React is a JavaScript library for building user interfaces, particularly single-page applications where data changes dynamically without refreshing the page.</a:t>
            </a:r>
            <a:endParaRPr lang="en-US" sz="1850" dirty="0"/>
          </a:p>
        </p:txBody>
      </p:sp>
      <p:sp>
        <p:nvSpPr>
          <p:cNvPr id="9" name="Text 3"/>
          <p:cNvSpPr/>
          <p:nvPr/>
        </p:nvSpPr>
        <p:spPr>
          <a:xfrm>
            <a:off x="5404104" y="4782312"/>
            <a:ext cx="3831336" cy="832104"/>
          </a:xfrm>
          <a:prstGeom prst="rect">
            <a:avLst/>
          </a:prstGeom>
          <a:noFill/>
          <a:ln/>
        </p:spPr>
        <p:txBody>
          <a:bodyPr wrap="squar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Component-Based Architecture</a:t>
            </a:r>
            <a:endParaRPr lang="en-US" sz="2320" dirty="0"/>
          </a:p>
        </p:txBody>
      </p:sp>
      <p:sp>
        <p:nvSpPr>
          <p:cNvPr id="10" name="Text 4"/>
          <p:cNvSpPr/>
          <p:nvPr/>
        </p:nvSpPr>
        <p:spPr>
          <a:xfrm>
            <a:off x="5404104" y="5742432"/>
            <a:ext cx="3831336" cy="996696"/>
          </a:xfrm>
          <a:prstGeom prst="rect">
            <a:avLst/>
          </a:prstGeom>
          <a:noFill/>
          <a:ln/>
        </p:spPr>
        <p:txBody>
          <a:bodyPr wrap="square" lIns="0" tIns="0" rIns="0" bIns="0" rtlCol="0" anchor="ctr"/>
          <a:lstStyle/>
          <a:p>
            <a:pPr marL="0" indent="0" algn="ct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It promotes building reusable UI components, enhancing code maintainability and organization.</a:t>
            </a:r>
            <a:endParaRPr lang="en-US" sz="1850" dirty="0"/>
          </a:p>
        </p:txBody>
      </p:sp>
      <p:sp>
        <p:nvSpPr>
          <p:cNvPr id="11" name="Text 5"/>
          <p:cNvSpPr/>
          <p:nvPr/>
        </p:nvSpPr>
        <p:spPr>
          <a:xfrm>
            <a:off x="9848088" y="4782312"/>
            <a:ext cx="3831336" cy="420624"/>
          </a:xfrm>
          <a:prstGeom prst="rect">
            <a:avLst/>
          </a:prstGeom>
          <a:noFill/>
          <a:ln/>
        </p:spPr>
        <p:txBody>
          <a:bodyPr wrap="non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Virtual DOM</a:t>
            </a:r>
            <a:endParaRPr lang="en-US" sz="2320" dirty="0"/>
          </a:p>
        </p:txBody>
      </p:sp>
      <p:sp>
        <p:nvSpPr>
          <p:cNvPr id="12" name="Text 6"/>
          <p:cNvSpPr/>
          <p:nvPr/>
        </p:nvSpPr>
        <p:spPr>
          <a:xfrm>
            <a:off x="9848088" y="5330952"/>
            <a:ext cx="3831336" cy="1655064"/>
          </a:xfrm>
          <a:prstGeom prst="rect">
            <a:avLst/>
          </a:prstGeom>
          <a:noFill/>
          <a:ln/>
        </p:spPr>
        <p:txBody>
          <a:bodyPr wrap="square" lIns="0" tIns="0" rIns="0" bIns="0" rtlCol="0" anchor="ctr"/>
          <a:lstStyle/>
          <a:p>
            <a:pPr algn="ctr">
              <a:lnSpc>
                <a:spcPts val="2600"/>
              </a:lnSpc>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React uses a Virtual DOM to optimize rendering performance, ensuring that only changed components are updated in the browser.</a:t>
            </a:r>
            <a:endParaRPr lang="en-US" sz="1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403336"/>
          </a:xfrm>
          <a:prstGeom prst="rect">
            <a:avLst/>
          </a:prstGeom>
        </p:spPr>
      </p:pic>
      <p:pic>
        <p:nvPicPr>
          <p:cNvPr id="3" name="Image 1" descr="preencoded.png"/>
          <p:cNvPicPr>
            <a:picLocks noChangeAspect="1"/>
          </p:cNvPicPr>
          <p:nvPr/>
        </p:nvPicPr>
        <p:blipFill>
          <a:blip r:embed="rId4"/>
          <a:stretch>
            <a:fillRect/>
          </a:stretch>
        </p:blipFill>
        <p:spPr>
          <a:xfrm>
            <a:off x="5047488" y="3108960"/>
            <a:ext cx="4544568" cy="4544568"/>
          </a:xfrm>
          <a:prstGeom prst="rect">
            <a:avLst/>
          </a:prstGeom>
        </p:spPr>
      </p:pic>
      <p:pic>
        <p:nvPicPr>
          <p:cNvPr id="4" name="Image 2" descr="preencoded.png"/>
          <p:cNvPicPr>
            <a:picLocks noChangeAspect="1"/>
          </p:cNvPicPr>
          <p:nvPr/>
        </p:nvPicPr>
        <p:blipFill>
          <a:blip r:embed="rId5"/>
          <a:stretch>
            <a:fillRect/>
          </a:stretch>
        </p:blipFill>
        <p:spPr>
          <a:xfrm>
            <a:off x="5047488" y="3108960"/>
            <a:ext cx="4544568" cy="4544568"/>
          </a:xfrm>
          <a:prstGeom prst="rect">
            <a:avLst/>
          </a:prstGeom>
        </p:spPr>
      </p:pic>
      <p:pic>
        <p:nvPicPr>
          <p:cNvPr id="5" name="Image 3" descr="preencoded.png"/>
          <p:cNvPicPr>
            <a:picLocks noChangeAspect="1"/>
          </p:cNvPicPr>
          <p:nvPr/>
        </p:nvPicPr>
        <p:blipFill>
          <a:blip r:embed="rId6"/>
          <a:stretch>
            <a:fillRect/>
          </a:stretch>
        </p:blipFill>
        <p:spPr>
          <a:xfrm>
            <a:off x="5047488" y="3108960"/>
            <a:ext cx="4544568" cy="4544568"/>
          </a:xfrm>
          <a:prstGeom prst="rect">
            <a:avLst/>
          </a:prstGeom>
        </p:spPr>
      </p:pic>
      <p:pic>
        <p:nvPicPr>
          <p:cNvPr id="6" name="Image 4" descr="preencoded.png"/>
          <p:cNvPicPr>
            <a:picLocks noChangeAspect="1"/>
          </p:cNvPicPr>
          <p:nvPr/>
        </p:nvPicPr>
        <p:blipFill>
          <a:blip r:embed="rId7"/>
          <a:stretch>
            <a:fillRect/>
          </a:stretch>
        </p:blipFill>
        <p:spPr>
          <a:xfrm>
            <a:off x="4544568" y="4791456"/>
            <a:ext cx="1188720" cy="1188720"/>
          </a:xfrm>
          <a:prstGeom prst="rect">
            <a:avLst/>
          </a:prstGeom>
        </p:spPr>
      </p:pic>
      <p:pic>
        <p:nvPicPr>
          <p:cNvPr id="7" name="Image 5" descr="preencoded.png"/>
          <p:cNvPicPr>
            <a:picLocks noChangeAspect="1"/>
          </p:cNvPicPr>
          <p:nvPr/>
        </p:nvPicPr>
        <p:blipFill>
          <a:blip r:embed="rId7"/>
          <a:stretch>
            <a:fillRect/>
          </a:stretch>
        </p:blipFill>
        <p:spPr>
          <a:xfrm>
            <a:off x="7827264" y="2898648"/>
            <a:ext cx="1188720" cy="1188720"/>
          </a:xfrm>
          <a:prstGeom prst="rect">
            <a:avLst/>
          </a:prstGeom>
        </p:spPr>
      </p:pic>
      <p:pic>
        <p:nvPicPr>
          <p:cNvPr id="8" name="Image 6" descr="preencoded.png"/>
          <p:cNvPicPr>
            <a:picLocks noChangeAspect="1"/>
          </p:cNvPicPr>
          <p:nvPr/>
        </p:nvPicPr>
        <p:blipFill>
          <a:blip r:embed="rId7"/>
          <a:stretch>
            <a:fillRect/>
          </a:stretch>
        </p:blipFill>
        <p:spPr>
          <a:xfrm>
            <a:off x="7827264" y="6684264"/>
            <a:ext cx="1188720" cy="1188720"/>
          </a:xfrm>
          <a:prstGeom prst="rect">
            <a:avLst/>
          </a:prstGeom>
        </p:spPr>
      </p:pic>
      <p:sp>
        <p:nvSpPr>
          <p:cNvPr id="9" name="Text 0"/>
          <p:cNvSpPr/>
          <p:nvPr/>
        </p:nvSpPr>
        <p:spPr>
          <a:xfrm>
            <a:off x="832104" y="649224"/>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3A6DDA"/>
                </a:solidFill>
                <a:latin typeface="思源黑体-思源黑体-Regular" pitchFamily="34" charset="0"/>
                <a:ea typeface="思源黑体-思源黑体-Regular" pitchFamily="34" charset="-122"/>
                <a:cs typeface="思源黑体-思源黑体-Regular" pitchFamily="34" charset="-120"/>
              </a:rPr>
              <a:t>Bootstrap Overview</a:t>
            </a:r>
            <a:endParaRPr lang="en-US" sz="4640" dirty="0"/>
          </a:p>
        </p:txBody>
      </p:sp>
      <p:sp>
        <p:nvSpPr>
          <p:cNvPr id="10" name="Text 1"/>
          <p:cNvSpPr/>
          <p:nvPr/>
        </p:nvSpPr>
        <p:spPr>
          <a:xfrm>
            <a:off x="832104" y="1746504"/>
            <a:ext cx="12984480" cy="996696"/>
          </a:xfrm>
          <a:prstGeom prst="rect">
            <a:avLst/>
          </a:prstGeom>
          <a:noFill/>
          <a:ln/>
        </p:spPr>
        <p:txBody>
          <a:bodyPr wrap="square" lIns="0" tIns="0" rIns="0" bIns="0" rtlCol="0" anchor="ctr"/>
          <a:lstStyle/>
          <a:p>
            <a:pPr marL="0" indent="0" algn="l">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Bootstrap is a powerful tool for developers, enabling JavaScript to be used on the server-side. Its event-driven architecture facilitates efficient handling of numerous connections, while npm provides access to a wide array of libraries that enhance development speed.</a:t>
            </a:r>
            <a:endParaRPr lang="en-US" sz="1850" dirty="0"/>
          </a:p>
        </p:txBody>
      </p:sp>
      <p:sp>
        <p:nvSpPr>
          <p:cNvPr id="11" name="Text 2"/>
          <p:cNvSpPr/>
          <p:nvPr/>
        </p:nvSpPr>
        <p:spPr>
          <a:xfrm>
            <a:off x="950976" y="4544568"/>
            <a:ext cx="3511296" cy="420624"/>
          </a:xfrm>
          <a:prstGeom prst="rect">
            <a:avLst/>
          </a:prstGeom>
          <a:noFill/>
          <a:ln/>
        </p:spPr>
        <p:txBody>
          <a:bodyPr wrap="none" lIns="0" tIns="0" rIns="0" bIns="0" rtlCol="0" anchor="ctr"/>
          <a:lstStyle/>
          <a:p>
            <a:pPr marL="0" indent="0" algn="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JavaScript Runtime</a:t>
            </a:r>
            <a:endParaRPr lang="en-US" sz="2320" dirty="0"/>
          </a:p>
        </p:txBody>
      </p:sp>
      <p:sp>
        <p:nvSpPr>
          <p:cNvPr id="12" name="Text 3"/>
          <p:cNvSpPr/>
          <p:nvPr/>
        </p:nvSpPr>
        <p:spPr>
          <a:xfrm>
            <a:off x="950976" y="5221224"/>
            <a:ext cx="3511296" cy="996696"/>
          </a:xfrm>
          <a:prstGeom prst="rect">
            <a:avLst/>
          </a:prstGeom>
          <a:noFill/>
          <a:ln/>
        </p:spPr>
        <p:txBody>
          <a:bodyPr wrap="square" lIns="0" tIns="0" rIns="0" bIns="0" rtlCol="0" anchor="ctr"/>
          <a:lstStyle/>
          <a:p>
            <a:pPr marL="0" indent="0" algn="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Run JavaScript on the server-side for full-stack development.</a:t>
            </a:r>
            <a:endParaRPr lang="en-US" sz="1850" dirty="0"/>
          </a:p>
        </p:txBody>
      </p:sp>
      <p:sp>
        <p:nvSpPr>
          <p:cNvPr id="13" name="Text 4"/>
          <p:cNvSpPr/>
          <p:nvPr/>
        </p:nvSpPr>
        <p:spPr>
          <a:xfrm>
            <a:off x="5047488" y="5166360"/>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595959"/>
                </a:solidFill>
                <a:latin typeface="思源黑体-思源黑体-Regular" pitchFamily="34" charset="0"/>
                <a:ea typeface="思源黑体-思源黑体-Regular" pitchFamily="34" charset="-122"/>
                <a:cs typeface="思源黑体-思源黑体-Regular" pitchFamily="34" charset="-120"/>
              </a:rPr>
              <a:t>1</a:t>
            </a:r>
            <a:endParaRPr lang="en-US" sz="2320" dirty="0"/>
          </a:p>
        </p:txBody>
      </p:sp>
      <p:sp>
        <p:nvSpPr>
          <p:cNvPr id="14" name="Text 5"/>
          <p:cNvSpPr/>
          <p:nvPr/>
        </p:nvSpPr>
        <p:spPr>
          <a:xfrm>
            <a:off x="8330184" y="3264408"/>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595959"/>
                </a:solidFill>
                <a:latin typeface="思源黑体-思源黑体-Regular" pitchFamily="34" charset="0"/>
                <a:ea typeface="思源黑体-思源黑体-Regular" pitchFamily="34" charset="-122"/>
                <a:cs typeface="思源黑体-思源黑体-Regular" pitchFamily="34" charset="-120"/>
              </a:rPr>
              <a:t>2</a:t>
            </a:r>
            <a:endParaRPr lang="en-US" sz="2320" dirty="0"/>
          </a:p>
        </p:txBody>
      </p:sp>
      <p:sp>
        <p:nvSpPr>
          <p:cNvPr id="15" name="Text 6"/>
          <p:cNvSpPr/>
          <p:nvPr/>
        </p:nvSpPr>
        <p:spPr>
          <a:xfrm>
            <a:off x="9710928" y="3264408"/>
            <a:ext cx="3986784" cy="420624"/>
          </a:xfrm>
          <a:prstGeom prst="rect">
            <a:avLst/>
          </a:prstGeom>
          <a:noFill/>
          <a:ln/>
        </p:spPr>
        <p:txBody>
          <a:bodyPr wrap="none" lIns="0" tIns="0" rIns="0" bIns="0" rtlCol="0" anchor="ctr"/>
          <a:lstStyle/>
          <a:p>
            <a:pPr marL="0" indent="0" algn="l">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Event-Driven Architecture</a:t>
            </a:r>
            <a:endParaRPr lang="en-US" sz="2320" dirty="0"/>
          </a:p>
        </p:txBody>
      </p:sp>
      <p:sp>
        <p:nvSpPr>
          <p:cNvPr id="16" name="Text 7"/>
          <p:cNvSpPr/>
          <p:nvPr/>
        </p:nvSpPr>
        <p:spPr>
          <a:xfrm>
            <a:off x="9710928" y="3941064"/>
            <a:ext cx="3986784" cy="996696"/>
          </a:xfrm>
          <a:prstGeom prst="rect">
            <a:avLst/>
          </a:prstGeom>
          <a:noFill/>
          <a:ln/>
        </p:spPr>
        <p:txBody>
          <a:bodyPr wrap="square" lIns="0" tIns="0" rIns="0" bIns="0" rtlCol="0" anchor="ctr"/>
          <a:lstStyle/>
          <a:p>
            <a:pPr marL="0" indent="0" algn="l">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Efficiently handle multiple connections with a non-blocking I/O model.</a:t>
            </a:r>
            <a:endParaRPr lang="en-US" sz="1850" dirty="0"/>
          </a:p>
        </p:txBody>
      </p:sp>
      <p:sp>
        <p:nvSpPr>
          <p:cNvPr id="17" name="Text 8"/>
          <p:cNvSpPr/>
          <p:nvPr/>
        </p:nvSpPr>
        <p:spPr>
          <a:xfrm>
            <a:off x="8330184" y="7059168"/>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595959"/>
                </a:solidFill>
                <a:latin typeface="思源黑体-思源黑体-Regular" pitchFamily="34" charset="0"/>
                <a:ea typeface="思源黑体-思源黑体-Regular" pitchFamily="34" charset="-122"/>
                <a:cs typeface="思源黑体-思源黑体-Regular" pitchFamily="34" charset="-120"/>
              </a:rPr>
              <a:t>3</a:t>
            </a:r>
            <a:endParaRPr lang="en-US" sz="2320" dirty="0"/>
          </a:p>
        </p:txBody>
      </p:sp>
      <p:sp>
        <p:nvSpPr>
          <p:cNvPr id="18" name="Text 9"/>
          <p:cNvSpPr/>
          <p:nvPr/>
        </p:nvSpPr>
        <p:spPr>
          <a:xfrm>
            <a:off x="9710928" y="5824728"/>
            <a:ext cx="3986784" cy="420624"/>
          </a:xfrm>
          <a:prstGeom prst="rect">
            <a:avLst/>
          </a:prstGeom>
          <a:noFill/>
          <a:ln/>
        </p:spPr>
        <p:txBody>
          <a:bodyPr wrap="none" lIns="0" tIns="0" rIns="0" bIns="0" rtlCol="0" anchor="ctr"/>
          <a:lstStyle/>
          <a:p>
            <a:pPr marL="0" indent="0" algn="l">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Package Management</a:t>
            </a:r>
            <a:endParaRPr lang="en-US" sz="2320" dirty="0"/>
          </a:p>
        </p:txBody>
      </p:sp>
      <p:sp>
        <p:nvSpPr>
          <p:cNvPr id="19" name="Text 10"/>
          <p:cNvSpPr/>
          <p:nvPr/>
        </p:nvSpPr>
        <p:spPr>
          <a:xfrm>
            <a:off x="9710928" y="6501384"/>
            <a:ext cx="3986784" cy="996696"/>
          </a:xfrm>
          <a:prstGeom prst="rect">
            <a:avLst/>
          </a:prstGeom>
          <a:noFill/>
          <a:ln/>
        </p:spPr>
        <p:txBody>
          <a:bodyPr wrap="square" lIns="0" tIns="0" rIns="0" bIns="0" rtlCol="0" anchor="ctr"/>
          <a:lstStyle/>
          <a:p>
            <a:pPr marL="0" indent="0" algn="l">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Access thousands of libraries through npm for rapid development.</a:t>
            </a:r>
            <a:endParaRPr lang="en-US" sz="1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22302"/>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409176" y="0"/>
            <a:ext cx="5230368" cy="8238744"/>
          </a:xfrm>
          <a:prstGeom prst="rect">
            <a:avLst/>
          </a:prstGeom>
        </p:spPr>
      </p:pic>
      <p:pic>
        <p:nvPicPr>
          <p:cNvPr id="4" name="Image 2" descr="preencoded.png"/>
          <p:cNvPicPr>
            <a:picLocks noChangeAspect="1"/>
          </p:cNvPicPr>
          <p:nvPr/>
        </p:nvPicPr>
        <p:blipFill>
          <a:blip r:embed="rId5"/>
          <a:stretch>
            <a:fillRect/>
          </a:stretch>
        </p:blipFill>
        <p:spPr>
          <a:xfrm>
            <a:off x="832104" y="3118104"/>
            <a:ext cx="2514600" cy="3666744"/>
          </a:xfrm>
          <a:prstGeom prst="rect">
            <a:avLst/>
          </a:prstGeom>
        </p:spPr>
      </p:pic>
      <p:pic>
        <p:nvPicPr>
          <p:cNvPr id="5" name="Image 3" descr="preencoded.png"/>
          <p:cNvPicPr>
            <a:picLocks noChangeAspect="1"/>
          </p:cNvPicPr>
          <p:nvPr/>
        </p:nvPicPr>
        <p:blipFill>
          <a:blip r:embed="rId5"/>
          <a:stretch>
            <a:fillRect/>
          </a:stretch>
        </p:blipFill>
        <p:spPr>
          <a:xfrm>
            <a:off x="3575304" y="3118104"/>
            <a:ext cx="2514600" cy="3666744"/>
          </a:xfrm>
          <a:prstGeom prst="rect">
            <a:avLst/>
          </a:prstGeom>
        </p:spPr>
      </p:pic>
      <p:pic>
        <p:nvPicPr>
          <p:cNvPr id="6" name="Image 4" descr="preencoded.png"/>
          <p:cNvPicPr>
            <a:picLocks noChangeAspect="1"/>
          </p:cNvPicPr>
          <p:nvPr/>
        </p:nvPicPr>
        <p:blipFill>
          <a:blip r:embed="rId5"/>
          <a:stretch>
            <a:fillRect/>
          </a:stretch>
        </p:blipFill>
        <p:spPr>
          <a:xfrm>
            <a:off x="6327648" y="3118104"/>
            <a:ext cx="2514600" cy="3666744"/>
          </a:xfrm>
          <a:prstGeom prst="rect">
            <a:avLst/>
          </a:prstGeom>
        </p:spPr>
      </p:pic>
      <p:sp>
        <p:nvSpPr>
          <p:cNvPr id="7" name="Text 0"/>
          <p:cNvSpPr/>
          <p:nvPr/>
        </p:nvSpPr>
        <p:spPr>
          <a:xfrm>
            <a:off x="832104" y="1197864"/>
            <a:ext cx="8010144" cy="1655064"/>
          </a:xfrm>
          <a:prstGeom prst="rect">
            <a:avLst/>
          </a:prstGeom>
          <a:noFill/>
          <a:ln/>
        </p:spPr>
        <p:txBody>
          <a:bodyPr wrap="square" lIns="0" tIns="0" rIns="0" bIns="0" rtlCol="0" anchor="ctr"/>
          <a:lstStyle/>
          <a:p>
            <a:pPr marL="0" indent="0" algn="l">
              <a:lnSpc>
                <a:spcPts val="6500"/>
              </a:lnSpc>
              <a:buNone/>
            </a:pPr>
            <a:r>
              <a:rPr lang="en-US" sz="4640" dirty="0">
                <a:solidFill>
                  <a:srgbClr val="3A6DDA"/>
                </a:solidFill>
                <a:latin typeface="思源黑体-思源黑体-Regular" pitchFamily="34" charset="0"/>
                <a:ea typeface="思源黑体-思源黑体-Regular" pitchFamily="34" charset="-122"/>
                <a:cs typeface="思源黑体-思源黑体-Regular" pitchFamily="34" charset="-120"/>
              </a:rPr>
              <a:t>Benefits of Using Front-End Development</a:t>
            </a:r>
            <a:endParaRPr lang="en-US" sz="4640" dirty="0"/>
          </a:p>
        </p:txBody>
      </p:sp>
      <p:sp>
        <p:nvSpPr>
          <p:cNvPr id="8" name="Text 1"/>
          <p:cNvSpPr/>
          <p:nvPr/>
        </p:nvSpPr>
        <p:spPr>
          <a:xfrm>
            <a:off x="1097280" y="3264408"/>
            <a:ext cx="1984248" cy="832104"/>
          </a:xfrm>
          <a:prstGeom prst="rect">
            <a:avLst/>
          </a:prstGeom>
          <a:noFill/>
          <a:ln/>
        </p:spPr>
        <p:txBody>
          <a:bodyPr wrap="square" lIns="0" tIns="0" rIns="0" bIns="0" rtlCol="0" anchor="ctr"/>
          <a:lstStyle/>
          <a:p>
            <a:pPr algn="ctr">
              <a:lnSpc>
                <a:spcPts val="3250"/>
              </a:lnSpc>
            </a:pPr>
            <a:r>
              <a:rPr lang="en-IN" sz="2000" dirty="0"/>
              <a:t>High Demand &amp; Job Opportunities</a:t>
            </a:r>
            <a:endParaRPr lang="en-US" sz="2000" dirty="0"/>
          </a:p>
        </p:txBody>
      </p:sp>
      <p:sp>
        <p:nvSpPr>
          <p:cNvPr id="9" name="Text 2"/>
          <p:cNvSpPr/>
          <p:nvPr/>
        </p:nvSpPr>
        <p:spPr>
          <a:xfrm>
            <a:off x="1097280" y="4233672"/>
            <a:ext cx="1984248" cy="2313432"/>
          </a:xfrm>
          <a:prstGeom prst="rect">
            <a:avLst/>
          </a:prstGeom>
          <a:noFill/>
          <a:ln/>
        </p:spPr>
        <p:txBody>
          <a:bodyPr wrap="square" lIns="0" tIns="0" rIns="0" bIns="0" rtlCol="0" anchor="ctr"/>
          <a:lstStyle/>
          <a:p>
            <a:pPr algn="ctr">
              <a:lnSpc>
                <a:spcPts val="2600"/>
              </a:lnSpc>
            </a:pPr>
            <a:r>
              <a:rPr lang="en-US" dirty="0"/>
              <a:t>Front-end developers are in great demand across IT companies, startups, and product-based firms.</a:t>
            </a:r>
          </a:p>
        </p:txBody>
      </p:sp>
      <p:sp>
        <p:nvSpPr>
          <p:cNvPr id="10" name="Text 3"/>
          <p:cNvSpPr/>
          <p:nvPr/>
        </p:nvSpPr>
        <p:spPr>
          <a:xfrm>
            <a:off x="3840480" y="3264408"/>
            <a:ext cx="1984248" cy="832104"/>
          </a:xfrm>
          <a:prstGeom prst="rect">
            <a:avLst/>
          </a:prstGeom>
          <a:noFill/>
          <a:ln/>
        </p:spPr>
        <p:txBody>
          <a:bodyPr wrap="square" lIns="0" tIns="0" rIns="0" bIns="0" rtlCol="0" anchor="ctr"/>
          <a:lstStyle/>
          <a:p>
            <a:pPr algn="ctr">
              <a:lnSpc>
                <a:spcPts val="3250"/>
              </a:lnSpc>
            </a:pPr>
            <a:r>
              <a:rPr lang="en-IN" sz="2000" dirty="0"/>
              <a:t>Creative and Visual Work</a:t>
            </a:r>
            <a:endParaRPr lang="en-US" sz="2000" dirty="0"/>
          </a:p>
        </p:txBody>
      </p:sp>
      <p:sp>
        <p:nvSpPr>
          <p:cNvPr id="11" name="Text 4"/>
          <p:cNvSpPr/>
          <p:nvPr/>
        </p:nvSpPr>
        <p:spPr>
          <a:xfrm>
            <a:off x="3707892" y="4283964"/>
            <a:ext cx="2249424" cy="2313432"/>
          </a:xfrm>
          <a:prstGeom prst="rect">
            <a:avLst/>
          </a:prstGeom>
          <a:noFill/>
          <a:ln/>
        </p:spPr>
        <p:txBody>
          <a:bodyPr wrap="square" lIns="0" tIns="0" rIns="0" bIns="0" rtlCol="0" anchor="ctr"/>
          <a:lstStyle/>
          <a:p>
            <a:pPr algn="ctr">
              <a:lnSpc>
                <a:spcPts val="2600"/>
              </a:lnSpc>
            </a:pPr>
            <a:r>
              <a:rPr lang="en-US" dirty="0"/>
              <a:t>Front-end development lets you </a:t>
            </a:r>
            <a:r>
              <a:rPr lang="en-US" b="1" dirty="0"/>
              <a:t>see your work come alive</a:t>
            </a:r>
            <a:r>
              <a:rPr lang="en-US" dirty="0"/>
              <a:t> — you design, build, and style websites that users directly interact with.</a:t>
            </a:r>
          </a:p>
        </p:txBody>
      </p:sp>
      <p:sp>
        <p:nvSpPr>
          <p:cNvPr id="12" name="Text 5"/>
          <p:cNvSpPr/>
          <p:nvPr/>
        </p:nvSpPr>
        <p:spPr>
          <a:xfrm>
            <a:off x="6559370" y="3058668"/>
            <a:ext cx="1984248" cy="1243584"/>
          </a:xfrm>
          <a:prstGeom prst="rect">
            <a:avLst/>
          </a:prstGeom>
          <a:noFill/>
          <a:ln/>
        </p:spPr>
        <p:txBody>
          <a:bodyPr wrap="square" lIns="0" tIns="0" rIns="0" bIns="0" rtlCol="0" anchor="ctr"/>
          <a:lstStyle/>
          <a:p>
            <a:pPr algn="ctr">
              <a:lnSpc>
                <a:spcPts val="3250"/>
              </a:lnSpc>
            </a:pPr>
            <a:r>
              <a:rPr lang="en-IN" sz="2000" dirty="0"/>
              <a:t>Fast Career Growth</a:t>
            </a:r>
            <a:endParaRPr lang="en-US" sz="2000" dirty="0"/>
          </a:p>
        </p:txBody>
      </p:sp>
      <p:sp>
        <p:nvSpPr>
          <p:cNvPr id="13" name="Text 6"/>
          <p:cNvSpPr/>
          <p:nvPr/>
        </p:nvSpPr>
        <p:spPr>
          <a:xfrm>
            <a:off x="6559370" y="4591290"/>
            <a:ext cx="1950794" cy="1589049"/>
          </a:xfrm>
          <a:prstGeom prst="rect">
            <a:avLst/>
          </a:prstGeom>
          <a:noFill/>
          <a:ln/>
        </p:spPr>
        <p:txBody>
          <a:bodyPr wrap="square" lIns="0" tIns="0" rIns="0" bIns="0" rtlCol="0" anchor="ctr"/>
          <a:lstStyle/>
          <a:p>
            <a:pPr algn="ctr">
              <a:lnSpc>
                <a:spcPts val="2600"/>
              </a:lnSpc>
            </a:pPr>
            <a:r>
              <a:rPr lang="en-US" dirty="0"/>
              <a:t>Because front-end technologies evolve quickly, developers who keep learning can </a:t>
            </a:r>
            <a:r>
              <a:rPr lang="en-US" b="1" dirty="0"/>
              <a:t>grow fast</a:t>
            </a:r>
            <a:r>
              <a:rPr lang="en-US" dirty="0"/>
              <a:t> in their careers.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832104" y="3236976"/>
            <a:ext cx="4169664" cy="2587752"/>
          </a:xfrm>
          <a:prstGeom prst="rect">
            <a:avLst/>
          </a:prstGeom>
        </p:spPr>
      </p:pic>
      <p:pic>
        <p:nvPicPr>
          <p:cNvPr id="5" name="Image 3" descr="preencoded.png"/>
          <p:cNvPicPr>
            <a:picLocks noChangeAspect="1"/>
          </p:cNvPicPr>
          <p:nvPr/>
        </p:nvPicPr>
        <p:blipFill>
          <a:blip r:embed="rId5"/>
          <a:stretch>
            <a:fillRect/>
          </a:stretch>
        </p:blipFill>
        <p:spPr>
          <a:xfrm>
            <a:off x="5239512" y="3236976"/>
            <a:ext cx="4169664" cy="2587752"/>
          </a:xfrm>
          <a:prstGeom prst="rect">
            <a:avLst/>
          </a:prstGeom>
        </p:spPr>
      </p:pic>
      <p:pic>
        <p:nvPicPr>
          <p:cNvPr id="6" name="Image 4" descr="preencoded.png"/>
          <p:cNvPicPr>
            <a:picLocks noChangeAspect="1"/>
          </p:cNvPicPr>
          <p:nvPr/>
        </p:nvPicPr>
        <p:blipFill>
          <a:blip r:embed="rId5"/>
          <a:stretch>
            <a:fillRect/>
          </a:stretch>
        </p:blipFill>
        <p:spPr>
          <a:xfrm>
            <a:off x="9637776" y="3236976"/>
            <a:ext cx="4169664" cy="2587752"/>
          </a:xfrm>
          <a:prstGeom prst="rect">
            <a:avLst/>
          </a:prstGeom>
        </p:spPr>
      </p:pic>
      <p:sp>
        <p:nvSpPr>
          <p:cNvPr id="7" name="Text 0"/>
          <p:cNvSpPr/>
          <p:nvPr/>
        </p:nvSpPr>
        <p:spPr>
          <a:xfrm>
            <a:off x="832104" y="2148840"/>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3A6DDA"/>
                </a:solidFill>
                <a:latin typeface="思源黑体-思源黑体-Regular" pitchFamily="34" charset="0"/>
                <a:ea typeface="思源黑体-思源黑体-Regular" pitchFamily="34" charset="-122"/>
                <a:cs typeface="思源黑体-思源黑体-Regular" pitchFamily="34" charset="-120"/>
              </a:rPr>
              <a:t>Use Cases and Applications of Front-End Development</a:t>
            </a:r>
            <a:endParaRPr lang="en-US" sz="4640" dirty="0"/>
          </a:p>
        </p:txBody>
      </p:sp>
      <p:sp>
        <p:nvSpPr>
          <p:cNvPr id="8" name="Text 1"/>
          <p:cNvSpPr/>
          <p:nvPr/>
        </p:nvSpPr>
        <p:spPr>
          <a:xfrm>
            <a:off x="1097280" y="3392424"/>
            <a:ext cx="3639312" cy="832104"/>
          </a:xfrm>
          <a:prstGeom prst="rect">
            <a:avLst/>
          </a:prstGeom>
          <a:noFill/>
          <a:ln/>
        </p:spPr>
        <p:txBody>
          <a:bodyPr wrap="squar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Single Page Applications (SPAs)</a:t>
            </a:r>
            <a:endParaRPr lang="en-US" sz="2320" dirty="0"/>
          </a:p>
        </p:txBody>
      </p:sp>
      <p:sp>
        <p:nvSpPr>
          <p:cNvPr id="9" name="Text 2"/>
          <p:cNvSpPr/>
          <p:nvPr/>
        </p:nvSpPr>
        <p:spPr>
          <a:xfrm>
            <a:off x="1097280" y="4352544"/>
            <a:ext cx="3639312" cy="1325880"/>
          </a:xfrm>
          <a:prstGeom prst="rect">
            <a:avLst/>
          </a:prstGeom>
          <a:noFill/>
          <a:ln/>
        </p:spPr>
        <p:txBody>
          <a:bodyPr wrap="square" lIns="0" tIns="0" rIns="0" bIns="0" rtlCol="0" anchor="ctr"/>
          <a:lstStyle/>
          <a:p>
            <a:pPr marL="0" indent="0" algn="ct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Front-End is ideal for SPAs where a smooth and fast user experience is crucial, such as social media platforms.</a:t>
            </a:r>
            <a:endParaRPr lang="en-US" sz="1850" dirty="0"/>
          </a:p>
        </p:txBody>
      </p:sp>
      <p:sp>
        <p:nvSpPr>
          <p:cNvPr id="10" name="Text 3"/>
          <p:cNvSpPr/>
          <p:nvPr/>
        </p:nvSpPr>
        <p:spPr>
          <a:xfrm>
            <a:off x="5504688" y="3392424"/>
            <a:ext cx="3639312" cy="420624"/>
          </a:xfrm>
          <a:prstGeom prst="rect">
            <a:avLst/>
          </a:prstGeom>
          <a:noFill/>
          <a:ln/>
        </p:spPr>
        <p:txBody>
          <a:bodyPr wrap="non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Real-Time Applications</a:t>
            </a:r>
            <a:endParaRPr lang="en-US" sz="2320" dirty="0"/>
          </a:p>
        </p:txBody>
      </p:sp>
      <p:sp>
        <p:nvSpPr>
          <p:cNvPr id="11" name="Text 4"/>
          <p:cNvSpPr/>
          <p:nvPr/>
        </p:nvSpPr>
        <p:spPr>
          <a:xfrm>
            <a:off x="5504688" y="3941064"/>
            <a:ext cx="3639312" cy="1325880"/>
          </a:xfrm>
          <a:prstGeom prst="rect">
            <a:avLst/>
          </a:prstGeom>
          <a:noFill/>
          <a:ln/>
        </p:spPr>
        <p:txBody>
          <a:bodyPr wrap="square" lIns="0" tIns="0" rIns="0" bIns="0" rtlCol="0" anchor="ctr"/>
          <a:lstStyle/>
          <a:p>
            <a:pPr marL="0" indent="0" algn="ct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Applications like chat apps and collaborative tools benefit from the stack's ability to handle real-time data updates.</a:t>
            </a:r>
            <a:endParaRPr lang="en-US" sz="1850" dirty="0"/>
          </a:p>
        </p:txBody>
      </p:sp>
      <p:sp>
        <p:nvSpPr>
          <p:cNvPr id="12" name="Text 5"/>
          <p:cNvSpPr/>
          <p:nvPr/>
        </p:nvSpPr>
        <p:spPr>
          <a:xfrm>
            <a:off x="9902952" y="3392424"/>
            <a:ext cx="3639312" cy="420624"/>
          </a:xfrm>
          <a:prstGeom prst="rect">
            <a:avLst/>
          </a:prstGeom>
          <a:noFill/>
          <a:ln/>
        </p:spPr>
        <p:txBody>
          <a:bodyPr wrap="non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E-commerce Platforms</a:t>
            </a:r>
            <a:endParaRPr lang="en-US" sz="2320" dirty="0"/>
          </a:p>
        </p:txBody>
      </p:sp>
      <p:sp>
        <p:nvSpPr>
          <p:cNvPr id="13" name="Text 6"/>
          <p:cNvSpPr/>
          <p:nvPr/>
        </p:nvSpPr>
        <p:spPr>
          <a:xfrm>
            <a:off x="9902952" y="3941064"/>
            <a:ext cx="3639312" cy="1325880"/>
          </a:xfrm>
          <a:prstGeom prst="rect">
            <a:avLst/>
          </a:prstGeom>
          <a:noFill/>
          <a:ln/>
        </p:spPr>
        <p:txBody>
          <a:bodyPr wrap="square" lIns="0" tIns="0" rIns="0" bIns="0" rtlCol="0" anchor="ctr"/>
          <a:lstStyle/>
          <a:p>
            <a:pPr marL="0" indent="0" algn="ct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The flexibility and scalability of the front-end development make it suitable for building complex e-commerce solutions.</a:t>
            </a:r>
            <a:endParaRPr lang="en-US" sz="1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sp>
        <p:nvSpPr>
          <p:cNvPr id="3" name="Text 0"/>
          <p:cNvSpPr/>
          <p:nvPr/>
        </p:nvSpPr>
        <p:spPr>
          <a:xfrm>
            <a:off x="832104" y="3703320"/>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3A6DDA"/>
                </a:solidFill>
                <a:latin typeface="思源黑体-思源黑体-Regular" pitchFamily="34" charset="0"/>
                <a:ea typeface="思源黑体-思源黑体-Regular" pitchFamily="34" charset="-122"/>
                <a:cs typeface="思源黑体-思源黑体-Regular" pitchFamily="34" charset="-120"/>
              </a:rPr>
              <a:t>Thank You</a:t>
            </a:r>
            <a:endParaRPr lang="en-US" sz="46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722</Words>
  <Application>Microsoft Office PowerPoint</Application>
  <PresentationFormat>Custom</PresentationFormat>
  <Paragraphs>86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思源黑体-思源黑体-Regular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Farman Ansari</cp:lastModifiedBy>
  <cp:revision>14</cp:revision>
  <dcterms:created xsi:type="dcterms:W3CDTF">2025-08-01T10:17:38Z</dcterms:created>
  <dcterms:modified xsi:type="dcterms:W3CDTF">2025-11-09T17:26:56Z</dcterms:modified>
</cp:coreProperties>
</file>